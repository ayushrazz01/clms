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Smart CLMS | Technical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937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© 2024 AYUSH RAJ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Smart CLMS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2563EB"/>
                </a:solidFill>
              </a:rPr>
              <a:t>College Library Management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Architecture, Features, and Technical Breakdown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Project Overview &amp; Purpose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45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Modernizing the campus library experience.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1E293B"/>
                </a:solidFill>
              </a:rPr>
              <a:t>• Integrated Digital Operations: </a:t>
            </a:r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Eliminating paper-based book tracking for student efficiency.</a:t>
            </a:r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1E293B"/>
                </a:solidFill>
              </a:rPr>
              <a:t>• Centralized Management: 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Unified control of circulation, book inventory, and user privileges.</a:t>
            </a:r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1E293B"/>
                </a:solidFill>
              </a:rPr>
              <a:t>• Automated Financial Tracking: 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Dynamic calculation of fines and real-time status reporting.</a:t>
            </a:r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1E293B"/>
                </a:solidFill>
              </a:rPr>
              <a:t>• Modern User Experience: 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Highly interactive dashboards for students and librarians.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Tech Stack &amp; Dependencies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45720"/>
          </a:xfrm>
          <a:prstGeom prst="rect">
            <a:avLst/>
          </a:prstGeom>
          <a:solidFill>
            <a:srgbClr val="0F172A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Technology Choice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Core Framework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Next.js 16 (App Router)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Language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TypeScript 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Styling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Tailwind CSS 4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Database Engine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PostgreSQL (Supabase)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Data Access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Prisma ORM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Authentication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NextAuth.js / Supabase Auth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UI Components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shadcn/ui (Radix UI)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45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The "Smart CLMS" ecosystem bridge: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  <a:solidFill>
            <a:srgbClr val="E2E8F0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Frontend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(Next.js App)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34640" y="2834640"/>
            <a:ext cx="731520" cy="27432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2286000"/>
            <a:ext cx="1828800" cy="1371600"/>
          </a:xfrm>
          <a:prstGeom prst="rect">
            <a:avLst/>
          </a:prstGeom>
          <a:solidFill>
            <a:srgbClr val="E2E8F0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2860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API &amp; Prisma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(TypeScript)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2834640"/>
            <a:ext cx="731520" cy="274320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2286000"/>
            <a:ext cx="1828800" cy="1371600"/>
          </a:xfrm>
          <a:prstGeom prst="rect">
            <a:avLst/>
          </a:prstGeom>
          <a:solidFill>
            <a:srgbClr val="E2E8F0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2860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(Supabase)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Role-Based Auth Middleware protects all core routes.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Folder &amp; File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45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clms/src/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  - app/              : Routes, API endpoints, App Layouts.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  - components/       : Modular UI &amp; reusable logic.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  - lib/              : Centralized client and ORM singleton setup.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  - hooks/            : Custom interaction logic (e.g. use-toast).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clms/prisma/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  - schema.prisma     : The source-of-truth for multi-schema DB.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  - migrations/       : Versioned SQL schema changes.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Core Modules Breakdown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45720"/>
          </a:xfrm>
          <a:prstGeom prst="rect">
            <a:avLst/>
          </a:prstGeom>
          <a:solidFill>
            <a:srgbClr val="0F172A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Authentication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Seamless login/register with multi-role identity management.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Book Catalog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Inventory tracking with ISBN, edition, and category mapping.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Circulation Engine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Tracks issue dates, return statuses, and overdue events.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Fines System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Automated fine calculation based on due-date slippage.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Profile Sync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Dynamic synchronization between Supabase Auth and Public profiles.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Key Features &amp; Functionality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45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1800" b="1" dirty="0">
                <a:solidFill>
                  <a:srgbClr val="1E293B"/>
                </a:solidFill>
              </a:rPr>
              <a:t>• Smart Dashboard: </a:t>
            </a:r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Real-time metrics for Issued, Overdue, and Available books.</a:t>
            </a:r>
            <a:pPr indent="0" marL="0">
              <a:lnSpc>
                <a:spcPts val="3400"/>
              </a:lnSpc>
              <a:buNone/>
            </a:pP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b="1" dirty="0">
                <a:solidFill>
                  <a:srgbClr val="1E293B"/>
                </a:solidFill>
              </a:rPr>
              <a:t>• Global Search: </a:t>
            </a: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High-performance book discovery and filtering.</a:t>
            </a:r>
            <a:pPr indent="0" marL="0">
              <a:lnSpc>
                <a:spcPts val="3400"/>
              </a:lnSpc>
              <a:buNone/>
            </a:pP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b="1" dirty="0">
                <a:solidFill>
                  <a:srgbClr val="1E293B"/>
                </a:solidFill>
              </a:rPr>
              <a:t>• Role-Specific UI: </a:t>
            </a: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Tailored views for Students, Librarians, and Admins.</a:t>
            </a:r>
            <a:pPr indent="0" marL="0">
              <a:lnSpc>
                <a:spcPts val="3400"/>
              </a:lnSpc>
              <a:buNone/>
            </a:pP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b="1" dirty="0">
                <a:solidFill>
                  <a:srgbClr val="1E293B"/>
                </a:solidFill>
              </a:rPr>
              <a:t>• Responsive Layout: </a:t>
            </a: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Built mobile-first with Tailwind CSS 4 utilities.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Data Flow | Technical Cycle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45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2563EB"/>
                </a:solidFill>
              </a:rPr>
              <a:t>1. Request Phase: </a:t>
            </a:r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User performs an action (e.g., borrowing a book).</a:t>
            </a:r>
            <a:pPr indent="0" marL="0">
              <a:lnSpc>
                <a:spcPts val="3000"/>
              </a:lnSpc>
              <a:buNone/>
            </a:pP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2563EB"/>
                </a:solidFill>
              </a:rPr>
              <a:t>2. Middleware: 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Session validation ensures the user is active.</a:t>
            </a:r>
            <a:pPr indent="0" marL="0">
              <a:lnSpc>
                <a:spcPts val="3000"/>
              </a:lnSpc>
              <a:buNone/>
            </a:pP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2563EB"/>
                </a:solidFill>
              </a:rPr>
              <a:t>3. API Execution: 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Server route triggers Prisma transaction (optimistic locking).</a:t>
            </a:r>
            <a:pPr indent="0" marL="0">
              <a:lnSpc>
                <a:spcPts val="3000"/>
              </a:lnSpc>
              <a:buNone/>
            </a:pP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2563EB"/>
                </a:solidFill>
              </a:rPr>
              <a:t>4. DB Sync: 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Supabase PostgreSQL updates public records.</a:t>
            </a:r>
            <a:pPr indent="0" marL="0">
              <a:lnSpc>
                <a:spcPts val="3000"/>
              </a:lnSpc>
              <a:buNone/>
            </a:pP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2563EB"/>
                </a:solidFill>
              </a:rPr>
              <a:t>5. Client Update: 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State is updated via Toast notifications and re-fetching logic.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API Endpoints &amp;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45720"/>
          </a:xfrm>
          <a:prstGeom prst="rect">
            <a:avLst/>
          </a:prstGeom>
          <a:solidFill>
            <a:srgbClr val="0F172A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65760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Path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Method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/api/auth/login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Identity verification &amp; session start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/api/auth/register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POST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Profile creation &amp; schema initialization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/api/dashboard/stats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GET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Real-time metrics for current user role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/api/books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GET/POST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Catalog retrieval and inventory management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/api/fines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GET/PATCH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Tracking and settling overdue payments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Notable Design Patterns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45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1E293B"/>
                </a:solidFill>
              </a:rPr>
              <a:t>• Data Layer: </a:t>
            </a:r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Prisma Client Singleton to prevent connection exhaustion.</a:t>
            </a:r>
            <a:pPr indent="0" marL="0">
              <a:lnSpc>
                <a:spcPts val="3000"/>
              </a:lnSpc>
              <a:buNone/>
            </a:pP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1E293B"/>
                </a:solidFill>
              </a:rPr>
              <a:t>• Security: 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Cookie-based session handling with middleware protection.</a:t>
            </a:r>
            <a:pPr indent="0" marL="0">
              <a:lnSpc>
                <a:spcPts val="3000"/>
              </a:lnSpc>
              <a:buNone/>
            </a:pP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1E293B"/>
                </a:solidFill>
              </a:rPr>
              <a:t>• Schema Strategy: 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Dual-schema approach to keep Auth and App data separate yet linked.</a:t>
            </a:r>
            <a:pPr indent="0" marL="0">
              <a:lnSpc>
                <a:spcPts val="3000"/>
              </a:lnSpc>
              <a:buNone/>
            </a:pP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1E293B"/>
                </a:solidFill>
              </a:rPr>
              <a:t>• UX Design: 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Declarative UI with React Hooks and Shadcn component reusability.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Future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45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1800" b="1" dirty="0">
                <a:solidFill>
                  <a:srgbClr val="1E293B"/>
                </a:solidFill>
              </a:rPr>
              <a:t>• AI Integration: </a:t>
            </a:r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Provide smart book recommendations based on user history.</a:t>
            </a:r>
            <a:pPr indent="0" marL="0">
              <a:lnSpc>
                <a:spcPts val="3400"/>
              </a:lnSpc>
              <a:buNone/>
            </a:pP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b="1" dirty="0">
                <a:solidFill>
                  <a:srgbClr val="1E293B"/>
                </a:solidFill>
              </a:rPr>
              <a:t>• IoT Support: </a:t>
            </a: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Integrate RFID and QR-code scanners for instant issue/return.</a:t>
            </a:r>
            <a:pPr indent="0" marL="0">
              <a:lnSpc>
                <a:spcPts val="3400"/>
              </a:lnSpc>
              <a:buNone/>
            </a:pP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b="1" dirty="0">
                <a:solidFill>
                  <a:srgbClr val="1E293B"/>
                </a:solidFill>
              </a:rPr>
              <a:t>• Mobile Ecosystem: </a:t>
            </a: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Develop a dedicated React Native companion app for students.</a:t>
            </a:r>
            <a:pPr indent="0" marL="0">
              <a:lnSpc>
                <a:spcPts val="3400"/>
              </a:lnSpc>
              <a:buNone/>
            </a:pP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b="1" dirty="0">
                <a:solidFill>
                  <a:srgbClr val="1E293B"/>
                </a:solidFill>
              </a:rPr>
              <a:t>• Advanced Reporting: </a:t>
            </a:r>
            <a:endParaRPr lang="en-US" sz="1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800" dirty="0">
                <a:solidFill>
                  <a:srgbClr val="1E293B"/>
                </a:solidFill>
              </a:rPr>
              <a:t>Generative AI reports for librarian-level inventory insights.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Summary: Smart CLMS is a modern, secure, and production-ready system.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Developed by Ayush Raj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2026-04-07T07:49:52Z</dcterms:created>
  <dcterms:modified xsi:type="dcterms:W3CDTF">2026-04-07T07:49:52Z</dcterms:modified>
</cp:coreProperties>
</file>